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1b9e8729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1b9e8729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1b9e8729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1b9e8729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1b9e8729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1b9e8729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1b9e8729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1b9e8729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b9e8729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1b9e8729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1be241e9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1be241e9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1be241e9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1be241e9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1be241e9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1be241e9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1b9e8729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1b9e8729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1b9e8729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1b9e8729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1b9e8729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1b9e8729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1b9e8729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1b9e8729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1b9e8729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1b9e8729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1b9e8729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1b9e8729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1be241e9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1be241e9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1b9e8729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1b9e8729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1b9e87290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1b9e8729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1be241e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1be241e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2850">
                <a:solidFill>
                  <a:srgbClr val="25252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Прогнозування поведiнки клієнтів у магазині будівельних матеріалів</a:t>
            </a:r>
            <a:endParaRPr sz="5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4793475" y="433001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</a:rPr>
              <a:t>Виконали:</a:t>
            </a:r>
            <a:br>
              <a:rPr lang="uk">
                <a:solidFill>
                  <a:schemeClr val="lt1"/>
                </a:solidFill>
              </a:rPr>
            </a:br>
            <a:r>
              <a:rPr lang="uk">
                <a:solidFill>
                  <a:schemeClr val="lt1"/>
                </a:solidFill>
              </a:rPr>
              <a:t>Краєвський Максим Сергійович І-21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lt1"/>
                </a:solidFill>
              </a:rPr>
              <a:t>Дробуш Микола Миколайович І-21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244050" y="1317300"/>
            <a:ext cx="3706500" cy="250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Мета та завдання системи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59725" y="343950"/>
            <a:ext cx="4166400" cy="44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Здійснити</a:t>
            </a:r>
            <a:r>
              <a:rPr lang="uk"/>
              <a:t> проектування i р</a:t>
            </a:r>
            <a:r>
              <a:rPr lang="uk"/>
              <a:t>озробити </a:t>
            </a:r>
            <a:r>
              <a:rPr lang="uk"/>
              <a:t>модулі</a:t>
            </a:r>
            <a:r>
              <a:rPr lang="uk"/>
              <a:t> системи прогнозування поведінки клієнтів у магазині будівельних матеріалів з метою аналізу купівельних </a:t>
            </a:r>
            <a:r>
              <a:rPr lang="uk"/>
              <a:t>спроможностi</a:t>
            </a:r>
            <a:r>
              <a:rPr lang="uk"/>
              <a:t>, визначення тенденцій попиту та підвищення ефективності роботи бізнесу.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Завдання </a:t>
            </a:r>
            <a:r>
              <a:rPr b="1" lang="uk"/>
              <a:t>проекту</a:t>
            </a:r>
            <a:r>
              <a:rPr b="1" lang="uk"/>
              <a:t>:</a:t>
            </a:r>
            <a:endParaRPr b="1"/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SzPts val="1300"/>
              <a:buAutoNum type="arabicParenR"/>
            </a:pPr>
            <a:r>
              <a:rPr lang="uk"/>
              <a:t>Збір та підготовка даних, у т.ч. сегментація клієнтів;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uk"/>
              <a:t>Розробка моделей прогнозування;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uk"/>
              <a:t>Верифiкацiя i тестування: а</a:t>
            </a:r>
            <a:r>
              <a:rPr lang="uk"/>
              <a:t>наліз факторів впливу; візуалізація результатів;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uk"/>
              <a:t>Інтеграція результатів у бізнес-процеси;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79800"/>
            <a:ext cx="8520600" cy="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КОНЦЕПЦІЯ СИСТЕМИ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814250"/>
            <a:ext cx="57340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ЕСКІЗНИЙ ПРОЕКТ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0" y="1304925"/>
            <a:ext cx="38100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3400" y="1852613"/>
            <a:ext cx="28956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0650" y="2105038"/>
            <a:ext cx="231457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ЕСКІЗНИЙ ПРОЕКТ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525" y="1300925"/>
            <a:ext cx="2038350" cy="384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5125" y="2060150"/>
            <a:ext cx="222885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ЕСКІЗНИЙ ПРОЕКТ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100" y="1356475"/>
            <a:ext cx="3381850" cy="34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3204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</a:t>
            </a:r>
            <a:r>
              <a:rPr lang="uk"/>
              <a:t>кранні</a:t>
            </a:r>
            <a:r>
              <a:rPr lang="uk"/>
              <a:t> форми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50" y="1285875"/>
            <a:ext cx="7772499" cy="385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204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Екранні форми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500" y="1285875"/>
            <a:ext cx="7677002" cy="385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3204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Екранні форми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900" y="1293400"/>
            <a:ext cx="7714202" cy="38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РОБОЧИЙ ПРОЕКТ (</a:t>
            </a:r>
            <a:r>
              <a:rPr b="1" lang="uk"/>
              <a:t>HTML</a:t>
            </a:r>
            <a:r>
              <a:rPr lang="uk"/>
              <a:t>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4150"/>
            <a:ext cx="3327525" cy="371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7525" y="1324150"/>
            <a:ext cx="3142012" cy="37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9525" y="2041325"/>
            <a:ext cx="2674476" cy="20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РОБОЧИЙ ПРОЕКТ (</a:t>
            </a:r>
            <a:r>
              <a:rPr b="1" lang="uk"/>
              <a:t>CSS</a:t>
            </a:r>
            <a:r>
              <a:rPr lang="uk"/>
              <a:t>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7025"/>
            <a:ext cx="2601050" cy="371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9125" y="1337025"/>
            <a:ext cx="1840350" cy="40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9375" y="1337025"/>
            <a:ext cx="1968178" cy="371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7453" y="1748550"/>
            <a:ext cx="1881647" cy="289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РОБОЧИЙ ПРОЕКТ (</a:t>
            </a:r>
            <a:r>
              <a:rPr b="1" lang="uk"/>
              <a:t>JavaScript</a:t>
            </a:r>
            <a:r>
              <a:rPr lang="uk"/>
              <a:t>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00" y="1376925"/>
            <a:ext cx="2702581" cy="371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4931" y="1376925"/>
            <a:ext cx="3414283" cy="371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6675" y="1763709"/>
            <a:ext cx="2767325" cy="2851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РОБОЧИЙ ПРОЕКТ (PHP_1)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00" y="1367025"/>
            <a:ext cx="3650588" cy="371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0388" y="1562025"/>
            <a:ext cx="5043712" cy="3061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РОБОЧИЙ ПРОЕКТ (PHP_2)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00" y="1328100"/>
            <a:ext cx="3635589" cy="3611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0389" y="1277025"/>
            <a:ext cx="2197059" cy="371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9848" y="1399913"/>
            <a:ext cx="2791752" cy="3468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РОБОЧИЙ ПРОЕКТ (PHP_3)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1075" y="1352025"/>
            <a:ext cx="2861860" cy="371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388425"/>
            <a:ext cx="8520600" cy="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2020"/>
              <a:t>АПРОБАЦІЯ </a:t>
            </a:r>
            <a:r>
              <a:rPr lang="uk" sz="2020"/>
              <a:t>ПРОЕКТУ</a:t>
            </a:r>
            <a:endParaRPr sz="2020"/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5800"/>
            <a:ext cx="4572000" cy="38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4665000" y="1922100"/>
            <a:ext cx="4357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Кореляційний - позитивна кореляція між кількістю проданих одиниць, обсягом продажів та витратами магазину. Зі зростанням кількості реалізованого товару збільшуються як доходи, так і витрати.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Регресійний - аналіз показує, що залежність між Unit Sales і Store Sales має майже лінійний характер. Це дозволяє використовувати кількість проданих одиниць як фактор прогнозування доходів магазину та оцінки майбутніх фінансових результатів.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388425"/>
            <a:ext cx="8520600" cy="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2020"/>
              <a:t>АПРОБАЦІЯ </a:t>
            </a:r>
            <a:r>
              <a:rPr lang="uk" sz="2020"/>
              <a:t>ПРОЕКТУ</a:t>
            </a:r>
            <a:endParaRPr sz="2020"/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8350"/>
            <a:ext cx="4572000" cy="38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/>
          <p:nvPr/>
        </p:nvSpPr>
        <p:spPr>
          <a:xfrm>
            <a:off x="4887300" y="1933375"/>
            <a:ext cx="3945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Кореляція - п</a:t>
            </a: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ростежується порівняння Store Sales, Store Cost та Unit Sales для магазинів LA Supermarket та SF Supermarket. Видно, що магазин з вищими обсягами продажів має також більші витрати та більшу кількість проданих одиниць.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Регресія - залежність між Unit Sales та Store Sales має близький до лінійного характер: зі збільшенням кількості проданих одиниць пропорційно зростає обсяг продажів.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388425"/>
            <a:ext cx="8520600" cy="62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2020"/>
              <a:t>АПРОБАЦІЯ ПРОЄКТУ</a:t>
            </a:r>
            <a:endParaRPr sz="2020"/>
          </a:p>
        </p:txBody>
      </p:sp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9900"/>
            <a:ext cx="5734050" cy="18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65000"/>
            <a:ext cx="5734050" cy="19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4050" y="1269900"/>
            <a:ext cx="3409951" cy="38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311700" y="2753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Висновок</a:t>
            </a:r>
            <a:endParaRPr/>
          </a:p>
        </p:txBody>
      </p:sp>
      <p:sp>
        <p:nvSpPr>
          <p:cNvPr id="190" name="Google Shape;190;p31"/>
          <p:cNvSpPr txBox="1"/>
          <p:nvPr/>
        </p:nvSpPr>
        <p:spPr>
          <a:xfrm>
            <a:off x="605400" y="1727100"/>
            <a:ext cx="79332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latin typeface="Times New Roman"/>
                <a:ea typeface="Times New Roman"/>
                <a:cs typeface="Times New Roman"/>
                <a:sym typeface="Times New Roman"/>
              </a:rPr>
              <a:t>1.    Здійснено проектування i розробити модулі системи прогнозування поведінки клієнтів у магазині будівельних матеріалів з метою аналізу купівельних спроможностi, визначення тенденцій попиту та підвищення ефективності роботи бізнесу.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uk" sz="1300">
                <a:latin typeface="Times New Roman"/>
                <a:ea typeface="Times New Roman"/>
                <a:cs typeface="Times New Roman"/>
                <a:sym typeface="Times New Roman"/>
              </a:rPr>
              <a:t>2. У</a:t>
            </a:r>
            <a:r>
              <a:rPr lang="uk" sz="1300">
                <a:latin typeface="Times New Roman"/>
                <a:ea typeface="Times New Roman"/>
                <a:cs typeface="Times New Roman"/>
                <a:sym typeface="Times New Roman"/>
              </a:rPr>
              <a:t> рамках </a:t>
            </a:r>
            <a:r>
              <a:rPr lang="uk" sz="1300">
                <a:latin typeface="Times New Roman"/>
                <a:ea typeface="Times New Roman"/>
                <a:cs typeface="Times New Roman"/>
                <a:sym typeface="Times New Roman"/>
              </a:rPr>
              <a:t>досліджено</a:t>
            </a:r>
            <a:r>
              <a:rPr lang="uk" sz="1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uk" sz="1300">
                <a:latin typeface="Times New Roman"/>
                <a:ea typeface="Times New Roman"/>
                <a:cs typeface="Times New Roman"/>
                <a:sym typeface="Times New Roman"/>
              </a:rPr>
              <a:t>здійснено</a:t>
            </a:r>
            <a:r>
              <a:rPr lang="uk" sz="1300">
                <a:latin typeface="Times New Roman"/>
                <a:ea typeface="Times New Roman"/>
                <a:cs typeface="Times New Roman"/>
                <a:sym typeface="Times New Roman"/>
              </a:rPr>
              <a:t> оптимізацiю това</a:t>
            </a:r>
            <a:r>
              <a:rPr lang="uk" sz="1300">
                <a:latin typeface="Times New Roman"/>
                <a:ea typeface="Times New Roman"/>
                <a:cs typeface="Times New Roman"/>
                <a:sym typeface="Times New Roman"/>
              </a:rPr>
              <a:t>рнiв</a:t>
            </a:r>
            <a:r>
              <a:rPr lang="uk" sz="1300">
                <a:latin typeface="Times New Roman"/>
                <a:ea typeface="Times New Roman"/>
                <a:cs typeface="Times New Roman"/>
                <a:sym typeface="Times New Roman"/>
              </a:rPr>
              <a:t> запасiв, формування персоналізовані пропозиції, покращити якість обслуговування та збільшити рівень лояльності покупців.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